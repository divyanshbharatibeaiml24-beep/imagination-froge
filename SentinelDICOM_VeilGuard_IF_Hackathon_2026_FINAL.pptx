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howSpecialPlsOnTitleSld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</p:sldIdLst>
  <p:sldSz type="screen16x9" cy="6858000" cx="12191999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algn="l" defTabSz="914400" eaLnBrk="1" hangingPunct="1" latinLnBrk="0" marL="22860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algn="l" defTabSz="914400" eaLnBrk="1" hangingPunct="1" latinLnBrk="0" marL="27432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algn="l" defTabSz="914400" eaLnBrk="1" hangingPunct="1" latinLnBrk="0" marL="32004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algn="l" defTabSz="914400" eaLnBrk="1" hangingPunct="1" latinLnBrk="0" marL="36576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9BBB59"/>
    <a:srgbClr val="39B0D4"/>
    <a:srgbClr val="727272"/>
    <a:srgbClr val="010000"/>
    <a:srgbClr val="FFA751"/>
    <a:srgbClr val="32323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6/26/2025</a:t>
            </a:fld>
            <a:endParaRPr lang="en-US"/>
          </a:p>
        </p:txBody>
      </p:sp>
      <p:sp>
        <p:nvSpPr>
          <p:cNvPr id="104870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pPr lvl="0"/>
            <a:endParaRPr lang="en-US" noProof="0"/>
          </a:p>
        </p:txBody>
      </p:sp>
      <p:sp>
        <p:nvSpPr>
          <p:cNvPr id="104870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0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457200" eaLnBrk="0" fontAlgn="base" hangingPunct="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algn="l" defTabSz="457200" eaLnBrk="0" fontAlgn="base" hangingPunct="0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algn="l" defTabSz="457200" eaLnBrk="0" fontAlgn="base" hangingPunct="0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algn="l" defTabSz="457200" eaLnBrk="0" fontAlgn="base" hangingPunct="0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algn="l" defTabSz="457200" eaLnBrk="0" fontAlgn="base" hangingPunct="0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algn="l" defTabSz="4572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2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7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8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10486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1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62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10486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5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ctr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86" name="Rectangle 2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8" name="Subtitle 3"/>
          <p:cNvSpPr>
            <a:spLocks noGrp="1"/>
          </p:cNvSpPr>
          <p:nvPr>
            <p:ph type="subTitle" idx="1"/>
          </p:nvPr>
        </p:nvSpPr>
        <p:spPr>
          <a:xfrm>
            <a:off x="1325880" y="868680"/>
            <a:ext cx="9509760" cy="594360"/>
          </a:xfrm>
        </p:spPr>
        <p:txBody>
          <a:bodyPr wrap="square" anchor="ctr" lIns="54864" rIns="54864" tIns="54864" bIns="54864"/>
          <a:p>
            <a:pPr algn="ctr"/>
            <a:r>
              <a:rPr sz="3000" b="1">
                <a:solidFill>
                  <a:srgbClr val="70529D"/>
                </a:solidFill>
                <a:latin typeface="Aptos"/>
              </a:rPr>
              <a:t>TITLE PAGE</a:t>
            </a:r>
            <a:endParaRPr b="1" dirty="0"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Title 7"/>
          <p:cNvSpPr>
            <a:spLocks noGrp="1"/>
          </p:cNvSpPr>
          <p:nvPr>
            <p:ph type="ctrTitle"/>
          </p:nvPr>
        </p:nvSpPr>
        <p:spPr>
          <a:xfrm>
            <a:off x="411480" y="320040"/>
            <a:ext cx="11338560" cy="411480"/>
          </a:xfrm>
        </p:spPr>
        <p:txBody>
          <a:bodyPr wrap="square" anchor="ctr" lIns="54864" rIns="54864" tIns="54864" bIns="54864"/>
          <a:p>
            <a:pPr indent="0" marL="4763" algn="ctr">
              <a:buNone/>
            </a:pPr>
            <a:r>
              <a:rPr sz="2700" b="1">
                <a:solidFill>
                  <a:srgbClr val="1F69B1"/>
                </a:solidFill>
                <a:latin typeface="Aptos"/>
              </a:rPr>
              <a:t>IMAGINATION FORGE HACKATHON 2026</a:t>
            </a:r>
            <a:endParaRPr b="1" dirty="0" sz="4000" lang="en-IN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48590" name="TextBox 9"/>
          <p:cNvSpPr txBox="1"/>
          <p:nvPr/>
        </p:nvSpPr>
        <p:spPr>
          <a:xfrm>
            <a:off x="502920" y="1828800"/>
            <a:ext cx="6400800" cy="3977639"/>
          </a:xfrm>
          <a:prstGeom prst="rect"/>
          <a:noFill/>
        </p:spPr>
        <p:txBody>
          <a:bodyPr rtlCol="0" wrap="square" lIns="36576" rIns="36576">
            <a:spAutoFit/>
          </a:bodyPr>
          <a:p>
            <a:pPr algn="just" indent="0" marL="0">
              <a:lnSpc>
                <a:spcPct val="200000"/>
              </a:lnSpc>
              <a:spcAft>
                <a:spcPts val="150"/>
              </a:spcAft>
              <a:buNone/>
            </a:pPr>
            <a:r>
              <a:rPr sz="2000" b="1">
                <a:solidFill>
                  <a:srgbClr val="1C4975"/>
                </a:solidFill>
                <a:latin typeface="Aptos"/>
              </a:rPr>
              <a:t>Problem Statement Title</a:t>
            </a:r>
          </a:p>
          <a:p>
            <a:pPr>
              <a:spcAft>
                <a:spcPts val="150"/>
              </a:spcAft>
            </a:pPr>
            <a:r>
              <a:rPr sz="2400" b="1">
                <a:solidFill>
                  <a:srgbClr val="1F69B1"/>
                </a:solidFill>
                <a:latin typeface="Aptos"/>
              </a:rPr>
              <a:t>The Real-Time DICOM Anonymizer</a:t>
            </a:r>
          </a:p>
          <a:p>
            <a:pPr>
              <a:spcAft>
                <a:spcPts val="150"/>
              </a:spcAft>
            </a:pPr>
            <a:r>
              <a:rPr sz="600" b="0">
                <a:solidFill>
                  <a:srgbClr val="1E242B"/>
                </a:solidFill>
                <a:latin typeface="Aptos"/>
              </a:rPr>
              <a:t/>
            </a:r>
          </a:p>
          <a:p>
            <a:pPr>
              <a:spcAft>
                <a:spcPts val="150"/>
              </a:spcAft>
            </a:pPr>
            <a:r>
              <a:rPr sz="1900" b="1">
                <a:solidFill>
                  <a:srgbClr val="1C4975"/>
                </a:solidFill>
                <a:latin typeface="Aptos"/>
              </a:rPr>
              <a:t>Theme</a:t>
            </a:r>
          </a:p>
          <a:p>
            <a:pPr>
              <a:spcAft>
                <a:spcPts val="150"/>
              </a:spcAft>
            </a:pPr>
            <a:r>
              <a:rPr sz="1550" b="0">
                <a:solidFill>
                  <a:srgbClr val="1E242B"/>
                </a:solidFill>
                <a:latin typeface="Aptos"/>
              </a:rPr>
              <a:t>Healthcare • AI • Cybersecurity • Medical Data Privacy</a:t>
            </a:r>
          </a:p>
          <a:p>
            <a:pPr>
              <a:spcAft>
                <a:spcPts val="150"/>
              </a:spcAft>
            </a:pPr>
            <a:r>
              <a:rPr sz="600" b="0">
                <a:solidFill>
                  <a:srgbClr val="1E242B"/>
                </a:solidFill>
                <a:latin typeface="Aptos"/>
              </a:rPr>
              <a:t/>
            </a:r>
          </a:p>
          <a:p>
            <a:pPr>
              <a:spcAft>
                <a:spcPts val="150"/>
              </a:spcAft>
            </a:pPr>
            <a:r>
              <a:rPr sz="1900" b="1">
                <a:solidFill>
                  <a:srgbClr val="1C4975"/>
                </a:solidFill>
                <a:latin typeface="Aptos"/>
              </a:rPr>
              <a:t>PS Category</a:t>
            </a:r>
          </a:p>
          <a:p>
            <a:pPr>
              <a:spcAft>
                <a:spcPts val="150"/>
              </a:spcAft>
            </a:pPr>
            <a:r>
              <a:rPr sz="1550" b="0">
                <a:solidFill>
                  <a:srgbClr val="1E242B"/>
                </a:solidFill>
                <a:latin typeface="Aptos"/>
              </a:rPr>
              <a:t>Software</a:t>
            </a:r>
          </a:p>
          <a:p>
            <a:pPr>
              <a:spcAft>
                <a:spcPts val="150"/>
              </a:spcAft>
            </a:pPr>
            <a:r>
              <a:rPr sz="600" b="0">
                <a:solidFill>
                  <a:srgbClr val="1E242B"/>
                </a:solidFill>
                <a:latin typeface="Aptos"/>
              </a:rPr>
              <a:t/>
            </a:r>
          </a:p>
          <a:p>
            <a:pPr>
              <a:spcAft>
                <a:spcPts val="150"/>
              </a:spcAft>
            </a:pPr>
            <a:r>
              <a:rPr sz="1900" b="1">
                <a:solidFill>
                  <a:srgbClr val="1C4975"/>
                </a:solidFill>
                <a:latin typeface="Aptos"/>
              </a:rPr>
              <a:t>Team Name (Registered on portal)</a:t>
            </a:r>
          </a:p>
          <a:p>
            <a:pPr>
              <a:spcAft>
                <a:spcPts val="150"/>
              </a:spcAft>
            </a:pPr>
            <a:r>
              <a:rPr sz="1550" b="0">
                <a:solidFill>
                  <a:srgbClr val="606973"/>
                </a:solidFill>
                <a:latin typeface="Aptos"/>
              </a:rPr>
              <a:t>Your Team Name</a:t>
            </a:r>
          </a:p>
        </p:txBody>
      </p:sp>
      <p:sp>
        <p:nvSpPr>
          <p:cNvPr id="1048591" name="Rounded Rectangle 1048590"/>
          <p:cNvSpPr/>
          <p:nvPr/>
        </p:nvSpPr>
        <p:spPr>
          <a:xfrm>
            <a:off x="6903720" y="1947672"/>
            <a:ext cx="45262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800" b="1">
                <a:solidFill>
                  <a:srgbClr val="70529D"/>
                </a:solidFill>
                <a:latin typeface="Aptos Display"/>
              </a:rPr>
              <a:t>THE CORE IDEA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500">
                <a:solidFill>
                  <a:srgbClr val="1E242B"/>
                </a:solidFill>
                <a:latin typeface="Aptos"/>
              </a:rPr>
              <a:t>A local-first DICOM privacy gate that detects PHI in metadata and pixels, preserves clinical information, validates the output independently, and blocks release when safety cannot be proven.</a:t>
            </a:r>
          </a:p>
        </p:txBody>
      </p:sp>
      <p:sp>
        <p:nvSpPr>
          <p:cNvPr id="1048592" name="TextBox 1048591"/>
          <p:cNvSpPr txBox="1"/>
          <p:nvPr/>
        </p:nvSpPr>
        <p:spPr>
          <a:xfrm>
            <a:off x="7022592" y="4617720"/>
            <a:ext cx="4297680" cy="9601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/>
            <a:r>
              <a:rPr sz="1520" b="1">
                <a:solidFill>
                  <a:srgbClr val="70529D"/>
                </a:solidFill>
                <a:latin typeface="Aptos"/>
              </a:rPr>
              <a:t>“We do not just anonymize the DICOM — we challenge the output, verify it, and refuse to release what we cannot prove is safe.”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182880" y="274320"/>
            <a:ext cx="10972800" cy="640080"/>
          </a:xfrm>
        </p:spPr>
        <p:txBody>
          <a:bodyPr wrap="square" anchor="ctr" lIns="54864" rIns="54864" tIns="54864" bIns="54864"/>
          <a:p>
            <a:pPr eaLnBrk="1" hangingPunct="1" algn="ctr"/>
            <a:r>
              <a:rPr sz="2800" b="1">
                <a:solidFill>
                  <a:srgbClr val="70529D"/>
                </a:solidFill>
                <a:latin typeface="Aptos"/>
              </a:rPr>
              <a:t>SENTINELDICOM VEILGUARD</a:t>
            </a:r>
          </a:p>
        </p:txBody>
      </p:sp>
      <p:sp>
        <p:nvSpPr>
          <p:cNvPr id="1048598" name="TextBox 8"/>
          <p:cNvSpPr txBox="1">
            <a:spLocks noChangeArrowheads="1"/>
          </p:cNvSpPr>
          <p:nvPr/>
        </p:nvSpPr>
        <p:spPr bwMode="auto">
          <a:xfrm>
            <a:off x="91440" y="1005840"/>
            <a:ext cx="11887200" cy="516636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indent="-342900" marL="342900">
              <a:buFont typeface="Wingdings" panose="05000000000000000000" pitchFamily="2" charset="2"/>
              <a:buChar char="v"/>
            </a:pPr>
            <a:endParaRPr dirty="0" sz="32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 smtClean="0">
                <a:solidFill>
                  <a:schemeClr val="bg1"/>
                </a:solidFill>
              </a:rPr>
              <a:t>2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0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indent="0" marL="0">
              <a:buNone/>
            </a:pPr>
            <a:r>
              <a:rPr lang="en-US">
                <a:solidFill>
                  <a:schemeClr val="bg1"/>
                </a:solidFill>
              </a:rPr>
              <a:t>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01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 wrap="square" lIns="54864" rIns="54864" tIns="54864" bIns="54864"/>
          <a:p>
            <a:pPr algn="ctr"/>
            <a:r>
              <a:rPr sz="1100" b="0">
                <a:solidFill>
                  <a:srgbClr val="1E242B"/>
                </a:solidFill>
                <a:latin typeface="Aptos"/>
              </a:rPr>
              <a:t>Your Team Name</a:t>
            </a:r>
            <a:endParaRPr dirty="0" lang="en-IN"/>
          </a:p>
        </p:txBody>
      </p:sp>
      <p:sp>
        <p:nvSpPr>
          <p:cNvPr id="1048602" name="Rounded Rectangle 1048601"/>
          <p:cNvSpPr/>
          <p:nvPr/>
        </p:nvSpPr>
        <p:spPr>
          <a:xfrm>
            <a:off x="384048" y="1216152"/>
            <a:ext cx="3657600" cy="14173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1F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600" b="1">
                <a:solidFill>
                  <a:srgbClr val="1F69B1"/>
                </a:solidFill>
                <a:latin typeface="Aptos Display"/>
              </a:rPr>
              <a:t>THE REAL PROBLEM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320">
                <a:solidFill>
                  <a:srgbClr val="1E242B"/>
                </a:solidFill>
                <a:latin typeface="Aptos"/>
              </a:rPr>
              <a:t>PHI may exist in standard tags, private/vendor tags, nested sequences, free text, burned-in pixels, UIDs and other visual/embedded content.</a:t>
            </a:r>
          </a:p>
        </p:txBody>
      </p:sp>
      <p:sp>
        <p:nvSpPr>
          <p:cNvPr id="1048603" name="Rounded Rectangle 1048602"/>
          <p:cNvSpPr/>
          <p:nvPr/>
        </p:nvSpPr>
        <p:spPr>
          <a:xfrm>
            <a:off x="4270248" y="1216152"/>
            <a:ext cx="36576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600" b="1">
                <a:solidFill>
                  <a:srgbClr val="70529D"/>
                </a:solidFill>
                <a:latin typeface="Aptos Display"/>
              </a:rPr>
              <a:t>PROPOSED SOLUTION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320">
                <a:solidFill>
                  <a:srgbClr val="1E242B"/>
                </a:solidFill>
                <a:latin typeface="Aptos"/>
              </a:rPr>
              <a:t>Automatically discover, classify, transform and verify PHI at both metadata and image levels using a policy-driven desktop pipeline.</a:t>
            </a:r>
          </a:p>
        </p:txBody>
      </p:sp>
      <p:sp>
        <p:nvSpPr>
          <p:cNvPr id="1048604" name="Rounded Rectangle 1048603"/>
          <p:cNvSpPr/>
          <p:nvPr/>
        </p:nvSpPr>
        <p:spPr>
          <a:xfrm>
            <a:off x="8156448" y="1216152"/>
            <a:ext cx="36576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600" b="1">
                <a:solidFill>
                  <a:srgbClr val="188760"/>
                </a:solidFill>
                <a:latin typeface="Aptos Display"/>
              </a:rPr>
              <a:t>THE DIFFERENTIATOR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320">
                <a:solidFill>
                  <a:srgbClr val="1E242B"/>
                </a:solidFill>
                <a:latin typeface="Aptos"/>
              </a:rPr>
              <a:t>Three-Truth Release Gate: Privacy Truth + Pixel/Integrity Truth + DICOM Structural Truth.</a:t>
            </a:r>
          </a:p>
        </p:txBody>
      </p:sp>
      <p:sp>
        <p:nvSpPr>
          <p:cNvPr id="1048605" name="TextBox 1048604"/>
          <p:cNvSpPr txBox="1"/>
          <p:nvPr/>
        </p:nvSpPr>
        <p:spPr>
          <a:xfrm>
            <a:off x="411480" y="2907792"/>
            <a:ext cx="11292840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/>
            <a:r>
              <a:rPr sz="1850" b="1">
                <a:solidFill>
                  <a:srgbClr val="1C4975"/>
                </a:solidFill>
                <a:latin typeface="Aptos"/>
              </a:rPr>
              <a:t>DETECT → CLASSIFY → TRANSFORM → ATTACK → VERIFY → RELEASE / REVIEW / QUARANTINE</a:t>
            </a:r>
          </a:p>
        </p:txBody>
      </p:sp>
      <p:sp>
        <p:nvSpPr>
          <p:cNvPr id="1048606" name="Rounded Rectangle 1048605"/>
          <p:cNvSpPr/>
          <p:nvPr/>
        </p:nvSpPr>
        <p:spPr>
          <a:xfrm>
            <a:off x="502920" y="3456432"/>
            <a:ext cx="2057400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F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420" b="1">
                <a:solidFill>
                  <a:srgbClr val="1F69B1"/>
                </a:solidFill>
                <a:latin typeface="Aptos Display"/>
              </a:rPr>
              <a:t>Metadata PHI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140">
                <a:solidFill>
                  <a:srgbClr val="1E242B"/>
                </a:solidFill>
                <a:latin typeface="Aptos"/>
              </a:rPr>
              <a:t>PS3.15 policy • private tags • nested SQ • dates • UIDs</a:t>
            </a:r>
          </a:p>
        </p:txBody>
      </p:sp>
      <p:sp>
        <p:nvSpPr>
          <p:cNvPr id="1048607" name="Rounded Rectangle 1048606"/>
          <p:cNvSpPr/>
          <p:nvPr/>
        </p:nvSpPr>
        <p:spPr>
          <a:xfrm>
            <a:off x="2788920" y="3456432"/>
            <a:ext cx="2057400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8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420" b="1">
                <a:solidFill>
                  <a:srgbClr val="D68422"/>
                </a:solidFill>
                <a:latin typeface="Aptos Display"/>
              </a:rPr>
              <a:t>Pixel PHI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140">
                <a:solidFill>
                  <a:srgbClr val="1E242B"/>
                </a:solidFill>
                <a:latin typeface="Aptos"/>
              </a:rPr>
              <a:t>Text detection • OCR • visual/barcode risk</a:t>
            </a:r>
          </a:p>
        </p:txBody>
      </p:sp>
      <p:sp>
        <p:nvSpPr>
          <p:cNvPr id="1048608" name="Rounded Rectangle 1048607"/>
          <p:cNvSpPr/>
          <p:nvPr/>
        </p:nvSpPr>
        <p:spPr>
          <a:xfrm>
            <a:off x="5074920" y="3456432"/>
            <a:ext cx="2057400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70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420" b="1">
                <a:solidFill>
                  <a:srgbClr val="70529D"/>
                </a:solidFill>
                <a:latin typeface="Aptos Display"/>
              </a:rPr>
              <a:t>Context Sieve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140">
                <a:solidFill>
                  <a:srgbClr val="1E242B"/>
                </a:solidFill>
                <a:latin typeface="Aptos"/>
              </a:rPr>
              <a:t>Identity removed • clinical markers preserved</a:t>
            </a:r>
          </a:p>
        </p:txBody>
      </p:sp>
      <p:sp>
        <p:nvSpPr>
          <p:cNvPr id="1048609" name="Rounded Rectangle 1048608"/>
          <p:cNvSpPr/>
          <p:nvPr/>
        </p:nvSpPr>
        <p:spPr>
          <a:xfrm>
            <a:off x="7360920" y="3456432"/>
            <a:ext cx="2057400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8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420" b="1">
                <a:solidFill>
                  <a:srgbClr val="188760"/>
                </a:solidFill>
                <a:latin typeface="Aptos Display"/>
              </a:rPr>
              <a:t>Independent Validation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140">
                <a:solidFill>
                  <a:srgbClr val="1E242B"/>
                </a:solidFill>
                <a:latin typeface="Aptos"/>
              </a:rPr>
              <a:t>PHI re-scan • pixel diff • DICOM checks</a:t>
            </a:r>
          </a:p>
        </p:txBody>
      </p:sp>
      <p:sp>
        <p:nvSpPr>
          <p:cNvPr id="1048610" name="Rounded Rectangle 1048609"/>
          <p:cNvSpPr/>
          <p:nvPr/>
        </p:nvSpPr>
        <p:spPr>
          <a:xfrm>
            <a:off x="9646920" y="3456432"/>
            <a:ext cx="2057400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C3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420" b="1">
                <a:solidFill>
                  <a:srgbClr val="C33636"/>
                </a:solidFill>
                <a:latin typeface="Aptos Display"/>
              </a:rPr>
              <a:t>Release Gate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140">
                <a:solidFill>
                  <a:srgbClr val="1E242B"/>
                </a:solidFill>
                <a:latin typeface="Aptos"/>
              </a:rPr>
              <a:t>APPROVED • REVIEW • BLOCK</a:t>
            </a:r>
          </a:p>
        </p:txBody>
      </p:sp>
      <p:sp>
        <p:nvSpPr>
          <p:cNvPr id="1048611" name="TextBox 1048610"/>
          <p:cNvSpPr txBox="1"/>
          <p:nvPr/>
        </p:nvSpPr>
        <p:spPr>
          <a:xfrm>
            <a:off x="566928" y="4846320"/>
            <a:ext cx="10972800" cy="7772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/>
            <a:r>
              <a:rPr sz="1520" b="0">
                <a:solidFill>
                  <a:srgbClr val="1E242B"/>
                </a:solidFill>
                <a:latin typeface="Aptos"/>
              </a:rPr>
              <a:t>Real-world outcome: the research team receives a clinically useful DICOM only after the system independently verifies privacy, pixel integrity and DICOM structure. Uncertain or failed cases never bypass the 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612648" y="256032"/>
            <a:ext cx="10972800" cy="621792"/>
          </a:xfrm>
        </p:spPr>
        <p:txBody>
          <a:bodyPr wrap="square" anchor="ctr" lIns="54864" rIns="54864" tIns="54864" bIns="54864"/>
          <a:p>
            <a:pPr eaLnBrk="1" hangingPunct="1" algn="ctr"/>
            <a:r>
              <a:rPr sz="2800" b="1">
                <a:solidFill>
                  <a:srgbClr val="70529D"/>
                </a:solidFill>
                <a:latin typeface="Aptos"/>
              </a:rPr>
              <a:t>TECHNICAL APPROACH</a:t>
            </a:r>
          </a:p>
        </p:txBody>
      </p:sp>
      <p:sp>
        <p:nvSpPr>
          <p:cNvPr id="1048607" name="TextBox 8"/>
          <p:cNvSpPr txBox="1">
            <a:spLocks noChangeArrowheads="1"/>
          </p:cNvSpPr>
          <p:nvPr/>
        </p:nvSpPr>
        <p:spPr bwMode="auto">
          <a:xfrm>
            <a:off x="365760" y="1051560"/>
            <a:ext cx="11247120" cy="525780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indent="-342900" marL="342900">
              <a:buFont typeface="Arial" panose="020B0604020202020204" pitchFamily="34" charset="0"/>
              <a:buChar char="•"/>
            </a:pPr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>
                <a:solidFill>
                  <a:schemeClr val="bg1"/>
                </a:solidFill>
              </a:rPr>
              <a:t>3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0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indent="0" marL="0">
              <a:buNone/>
            </a:pPr>
            <a:r>
              <a:rPr lang="en-US">
                <a:solidFill>
                  <a:schemeClr val="bg1"/>
                </a:solidFill>
              </a:rPr>
              <a:t>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10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 wrap="square" lIns="54864" rIns="54864" tIns="54864" bIns="54864"/>
          <a:p>
            <a:pPr algn="ctr"/>
            <a:r>
              <a:rPr sz="1100" b="0">
                <a:solidFill>
                  <a:srgbClr val="1E242B"/>
                </a:solidFill>
                <a:latin typeface="Aptos"/>
              </a:rPr>
              <a:t>Your Team Name</a:t>
            </a:r>
            <a:endParaRPr dirty="0" lang="en-IN"/>
          </a:p>
        </p:txBody>
      </p:sp>
      <p:sp>
        <p:nvSpPr>
          <p:cNvPr id="1048611" name="Rounded Rectangle 1048610"/>
          <p:cNvSpPr/>
          <p:nvPr/>
        </p:nvSpPr>
        <p:spPr>
          <a:xfrm>
            <a:off x="411480" y="1234440"/>
            <a:ext cx="3520440" cy="9601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1F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500" b="1">
                <a:solidFill>
                  <a:srgbClr val="1F69B1"/>
                </a:solidFill>
                <a:latin typeface="Aptos Display"/>
              </a:rPr>
              <a:t>CORE DICOM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200">
                <a:solidFill>
                  <a:srgbClr val="1E242B"/>
                </a:solidFill>
                <a:latin typeface="Aptos"/>
              </a:rPr>
              <a:t>Python • pydicom • PS3.15 policy engine • recursive SQ traversal</a:t>
            </a:r>
          </a:p>
        </p:txBody>
      </p:sp>
      <p:sp>
        <p:nvSpPr>
          <p:cNvPr id="1048612" name="Rounded Rectangle 1048611"/>
          <p:cNvSpPr/>
          <p:nvPr/>
        </p:nvSpPr>
        <p:spPr>
          <a:xfrm>
            <a:off x="411480" y="2359152"/>
            <a:ext cx="35204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8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200">
                <a:latin typeface="Aptos"/>
              </a:rPr>
              <a:t>OCR • text detection • regex/NER • metadata-to-pixel correlation • modality router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200">
                <a:solidFill>
                  <a:srgbClr val="1E242B"/>
                </a:solidFill>
                <a:latin typeface="Aptos"/>
              </a:rPr>
              <a:t>OCR • text detection • regex/NER • metadata↔pixel correlation • modality router</a:t>
            </a:r>
          </a:p>
        </p:txBody>
      </p:sp>
      <p:sp>
        <p:nvSpPr>
          <p:cNvPr id="1048613" name="Rounded Rectangle 1048612"/>
          <p:cNvSpPr/>
          <p:nvPr/>
        </p:nvSpPr>
        <p:spPr>
          <a:xfrm>
            <a:off x="411480" y="3483864"/>
            <a:ext cx="35204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500" b="1">
                <a:solidFill>
                  <a:srgbClr val="70529D"/>
                </a:solidFill>
                <a:latin typeface="Aptos Display"/>
              </a:rPr>
              <a:t>SECURITY + AUDIT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200">
                <a:solidFill>
                  <a:srgbClr val="1E242B"/>
                </a:solidFill>
                <a:latin typeface="Aptos"/>
              </a:rPr>
              <a:t>HMAC-SHA256 UID mapping • encrypted vault • hash/Merkle-chain audit • fail-closed states</a:t>
            </a:r>
          </a:p>
        </p:txBody>
      </p:sp>
      <p:sp>
        <p:nvSpPr>
          <p:cNvPr id="1048614" name="Rounded Rectangle 1048613"/>
          <p:cNvSpPr/>
          <p:nvPr/>
        </p:nvSpPr>
        <p:spPr>
          <a:xfrm>
            <a:off x="411480" y="4608576"/>
            <a:ext cx="3520440" cy="100584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8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500" b="1">
                <a:solidFill>
                  <a:srgbClr val="188760"/>
                </a:solidFill>
                <a:latin typeface="Aptos Display"/>
              </a:rPr>
              <a:t>MVP SCOPE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200">
                <a:solidFill>
                  <a:srgbClr val="1E242B"/>
                </a:solidFill>
                <a:latin typeface="Aptos"/>
              </a:rPr>
              <a:t>CT • Ultrasound • X-ray / Secondary Capture • desktop batch/folder watch</a:t>
            </a:r>
          </a:p>
        </p:txBody>
      </p:sp>
      <p:pic>
        <p:nvPicPr>
          <p:cNvPr id="1048615" name="Picture 104861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143000"/>
            <a:ext cx="7589520" cy="5212080"/>
          </a:xfrm>
          <a:prstGeom prst="rect">
            <a:avLst/>
          </a:prstGeom>
        </p:spPr>
      </p:pic>
      <p:sp>
        <p:nvSpPr>
          <p:cNvPr id="1048616" name="TextBox 1048615"/>
          <p:cNvSpPr txBox="1"/>
          <p:nvPr/>
        </p:nvSpPr>
        <p:spPr>
          <a:xfrm>
            <a:off x="4434840" y="6236208"/>
            <a:ext cx="70408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200">
                <a:latin typeface="Aptos"/>
              </a:rPr>
              <a:t>OCR • text detection • regex/NER • metadata-to-pixel correlation • modality router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502920" y="256032"/>
            <a:ext cx="11201400" cy="621792"/>
          </a:xfrm>
        </p:spPr>
        <p:txBody>
          <a:bodyPr wrap="square" anchor="ctr" lIns="54864" rIns="54864" tIns="54864" bIns="54864"/>
          <a:p>
            <a:pPr eaLnBrk="1" hangingPunct="1" algn="ctr"/>
            <a:r>
              <a:rPr sz="2650" b="1">
                <a:solidFill>
                  <a:srgbClr val="70529D"/>
                </a:solidFill>
                <a:latin typeface="Aptos"/>
              </a:rPr>
              <a:t>FEASIBILITY AND VIABILITY</a:t>
            </a:r>
          </a:p>
        </p:txBody>
      </p:sp>
      <p:sp>
        <p:nvSpPr>
          <p:cNvPr id="1048616" name="TextBox 8"/>
          <p:cNvSpPr txBox="1">
            <a:spLocks noChangeArrowheads="1"/>
          </p:cNvSpPr>
          <p:nvPr/>
        </p:nvSpPr>
        <p:spPr bwMode="auto">
          <a:xfrm>
            <a:off x="365760" y="1051560"/>
            <a:ext cx="11247120" cy="525780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1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19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 wrap="square" lIns="54864" rIns="54864" tIns="54864" bIns="54864"/>
          <a:p>
            <a:pPr algn="ctr"/>
            <a:r>
              <a:rPr sz="1100" b="0">
                <a:solidFill>
                  <a:srgbClr val="1E242B"/>
                </a:solidFill>
                <a:latin typeface="Aptos"/>
              </a:rPr>
              <a:t>Your Team Name</a:t>
            </a:r>
            <a:endParaRPr dirty="0" lang="en-IN"/>
          </a:p>
        </p:txBody>
      </p:sp>
      <p:sp>
        <p:nvSpPr>
          <p:cNvPr id="1048620" name="Rounded Rectangle 1048619"/>
          <p:cNvSpPr/>
          <p:nvPr/>
        </p:nvSpPr>
        <p:spPr>
          <a:xfrm>
            <a:off x="457200" y="1234440"/>
            <a:ext cx="3429000" cy="274320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1F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700" b="1">
                <a:solidFill>
                  <a:srgbClr val="1F69B1"/>
                </a:solidFill>
                <a:latin typeface="Aptos Display"/>
              </a:rPr>
              <a:t>FEASIBILITY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400">
                <a:solidFill>
                  <a:srgbClr val="1E242B"/>
                </a:solidFill>
                <a:latin typeface="Aptos"/>
              </a:rPr>
              <a:t>• Python + PySide6 keeps the prototype practical.
• Start with CT, US and X-ray/SC.
• Synthetic PHI DICOMs enable safe testing.
• 6-week MVP: 4 focused phases.</a:t>
            </a:r>
          </a:p>
        </p:txBody>
      </p:sp>
      <p:sp>
        <p:nvSpPr>
          <p:cNvPr id="1048621" name="Rounded Rectangle 1048620"/>
          <p:cNvSpPr/>
          <p:nvPr/>
        </p:nvSpPr>
        <p:spPr>
          <a:xfrm>
            <a:off x="4169663" y="1234440"/>
            <a:ext cx="342900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8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700" b="1">
                <a:solidFill>
                  <a:srgbClr val="D68422"/>
                </a:solidFill>
                <a:latin typeface="Aptos Display"/>
              </a:rPr>
              <a:t>CHALLENGES / RISKS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370">
                <a:solidFill>
                  <a:srgbClr val="1E242B"/>
                </a:solidFill>
                <a:latin typeface="Aptos"/>
              </a:rPr>
              <a:t>• OCR can miss low-contrast or rotated text.
• Over-redaction can remove clinical markers.
• Unsupported codecs or malformed DICOM.
• 3D facial identity risk in head/neck CT/MR.</a:t>
            </a:r>
          </a:p>
        </p:txBody>
      </p:sp>
      <p:sp>
        <p:nvSpPr>
          <p:cNvPr id="1048622" name="Rounded Rectangle 1048621"/>
          <p:cNvSpPr/>
          <p:nvPr/>
        </p:nvSpPr>
        <p:spPr>
          <a:xfrm>
            <a:off x="7882127" y="1234440"/>
            <a:ext cx="3675887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700" b="1">
                <a:solidFill>
                  <a:srgbClr val="188760"/>
                </a:solidFill>
                <a:latin typeface="Aptos Display"/>
              </a:rPr>
              <a:t>MITIGATION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360">
                <a:solidFill>
                  <a:srgbClr val="1E242B"/>
                </a:solidFill>
                <a:latin typeface="Aptos"/>
              </a:rPr>
              <a:t>• Risk-adaptive OCR + fallback detector.
• Context sieve + human review for anatomy overlap.
• Unsupported/failed files → quarantine.
• Visual-identity router + conservative defacing policy.</a:t>
            </a:r>
          </a:p>
        </p:txBody>
      </p:sp>
      <p:sp>
        <p:nvSpPr>
          <p:cNvPr id="1048623" name="Rounded Rectangle 1048622"/>
          <p:cNvSpPr/>
          <p:nvPr/>
        </p:nvSpPr>
        <p:spPr>
          <a:xfrm>
            <a:off x="502920" y="4251960"/>
            <a:ext cx="340156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600" b="1">
                <a:solidFill>
                  <a:srgbClr val="C33636"/>
                </a:solidFill>
                <a:latin typeface="Aptos Display"/>
              </a:rPr>
              <a:t>FAIL-CLOSED RULE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340">
                <a:solidFill>
                  <a:srgbClr val="1E242B"/>
                </a:solidFill>
                <a:latin typeface="Aptos"/>
              </a:rPr>
              <a:t>Uncertain → Review
Validation failure → Quarantine
No silent bypass.</a:t>
            </a:r>
          </a:p>
        </p:txBody>
      </p:sp>
      <p:sp>
        <p:nvSpPr>
          <p:cNvPr id="1048624" name="Rounded Rectangle 1048623"/>
          <p:cNvSpPr/>
          <p:nvPr/>
        </p:nvSpPr>
        <p:spPr>
          <a:xfrm>
            <a:off x="4215384" y="4251960"/>
            <a:ext cx="340156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600" b="1">
                <a:solidFill>
                  <a:srgbClr val="70529D"/>
                </a:solidFill>
                <a:latin typeface="Aptos Display"/>
              </a:rPr>
              <a:t>THREE-TRUTH GATE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340">
                <a:solidFill>
                  <a:srgbClr val="1E242B"/>
                </a:solidFill>
                <a:latin typeface="Aptos"/>
              </a:rPr>
              <a:t>Privacy + Pixel/Integrity + DICOM structure must all pass before export.</a:t>
            </a:r>
          </a:p>
        </p:txBody>
      </p:sp>
      <p:sp>
        <p:nvSpPr>
          <p:cNvPr id="1048625" name="Rounded Rectangle 1048624"/>
          <p:cNvSpPr/>
          <p:nvPr/>
        </p:nvSpPr>
        <p:spPr>
          <a:xfrm>
            <a:off x="7927848" y="4251960"/>
            <a:ext cx="3611880" cy="13258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C4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600" b="1">
                <a:solidFill>
                  <a:srgbClr val="1C4975"/>
                </a:solidFill>
                <a:latin typeface="Aptos Display"/>
              </a:rPr>
              <a:t>SCALE-UP PATH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320">
                <a:solidFill>
                  <a:srgbClr val="1E242B"/>
                </a:solidFill>
                <a:latin typeface="Aptos"/>
              </a:rPr>
              <a:t>Future: PACS, more modalities, advanced payload/QI analysis, enterprise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612648" y="256032"/>
            <a:ext cx="10972800" cy="621792"/>
          </a:xfrm>
        </p:spPr>
        <p:txBody>
          <a:bodyPr wrap="square" anchor="ctr" lIns="54864" rIns="54864" tIns="54864" bIns="54864"/>
          <a:p>
            <a:pPr eaLnBrk="1" hangingPunct="1" algn="ctr"/>
            <a:r>
              <a:rPr sz="2800" b="1">
                <a:solidFill>
                  <a:srgbClr val="70529D"/>
                </a:solidFill>
                <a:latin typeface="Aptos"/>
              </a:rPr>
              <a:t>IMPACT AND BENEFITS</a:t>
            </a:r>
          </a:p>
        </p:txBody>
      </p:sp>
      <p:sp>
        <p:nvSpPr>
          <p:cNvPr id="1048625" name="TextBox 8"/>
          <p:cNvSpPr txBox="1">
            <a:spLocks noChangeArrowheads="1"/>
          </p:cNvSpPr>
          <p:nvPr/>
        </p:nvSpPr>
        <p:spPr bwMode="auto">
          <a:xfrm>
            <a:off x="365760" y="1051560"/>
            <a:ext cx="11247120" cy="525780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2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28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 wrap="square" lIns="54864" rIns="54864" tIns="54864" bIns="54864"/>
          <a:p>
            <a:pPr algn="ctr"/>
            <a:r>
              <a:rPr sz="1100" b="0">
                <a:solidFill>
                  <a:srgbClr val="1E242B"/>
                </a:solidFill>
                <a:latin typeface="Aptos"/>
              </a:rPr>
              <a:t>Your Team Name</a:t>
            </a:r>
            <a:endParaRPr dirty="0" lang="en-IN"/>
          </a:p>
        </p:txBody>
      </p:sp>
      <p:sp>
        <p:nvSpPr>
          <p:cNvPr id="1048629" name="Rounded Rectangle 1048628"/>
          <p:cNvSpPr/>
          <p:nvPr/>
        </p:nvSpPr>
        <p:spPr>
          <a:xfrm>
            <a:off x="457200" y="1261872"/>
            <a:ext cx="3456432" cy="14173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1F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520" b="1">
                <a:solidFill>
                  <a:srgbClr val="1F69B1"/>
                </a:solidFill>
                <a:latin typeface="Aptos Display"/>
              </a:rPr>
              <a:t>HOSPITALS / DATA CUSTODIANS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310">
                <a:solidFill>
                  <a:srgbClr val="1E242B"/>
                </a:solidFill>
                <a:latin typeface="Aptos"/>
              </a:rPr>
              <a:t>Safer release workflow • local-first processing • auditable transformations • quarantine for uncertainty.</a:t>
            </a:r>
          </a:p>
        </p:txBody>
      </p:sp>
      <p:sp>
        <p:nvSpPr>
          <p:cNvPr id="1048630" name="Rounded Rectangle 1048629"/>
          <p:cNvSpPr/>
          <p:nvPr/>
        </p:nvSpPr>
        <p:spPr>
          <a:xfrm>
            <a:off x="4370832" y="1261872"/>
            <a:ext cx="345643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520" b="1">
                <a:solidFill>
                  <a:srgbClr val="188760"/>
                </a:solidFill>
                <a:latin typeface="Aptos Display"/>
              </a:rPr>
              <a:t>AI / RESEARCH TEAMS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310">
                <a:solidFill>
                  <a:srgbClr val="1E242B"/>
                </a:solidFill>
                <a:latin typeface="Aptos"/>
              </a:rPr>
              <a:t>Cleaner cohorts • longitudinal linkage • preserved clinical structure • reproducible de-identification.</a:t>
            </a:r>
          </a:p>
        </p:txBody>
      </p:sp>
      <p:sp>
        <p:nvSpPr>
          <p:cNvPr id="1048631" name="Rounded Rectangle 1048630"/>
          <p:cNvSpPr/>
          <p:nvPr/>
        </p:nvSpPr>
        <p:spPr>
          <a:xfrm>
            <a:off x="8284464" y="1261872"/>
            <a:ext cx="345643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520" b="1">
                <a:solidFill>
                  <a:srgbClr val="70529D"/>
                </a:solidFill>
                <a:latin typeface="Aptos Display"/>
              </a:rPr>
              <a:t>PATIENTS / PUBLIC TRUST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310">
                <a:solidFill>
                  <a:srgbClr val="1E242B"/>
                </a:solidFill>
                <a:latin typeface="Aptos"/>
              </a:rPr>
              <a:t>Reduces accidental identity exposure when imaging is reused for research, AI training or collaboration.</a:t>
            </a:r>
          </a:p>
        </p:txBody>
      </p:sp>
      <p:sp>
        <p:nvSpPr>
          <p:cNvPr id="1048632" name="TextBox 1048631"/>
          <p:cNvSpPr txBox="1"/>
          <p:nvPr/>
        </p:nvSpPr>
        <p:spPr>
          <a:xfrm>
            <a:off x="548640" y="2944368"/>
            <a:ext cx="109728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850" b="1">
                <a:solidFill>
                  <a:srgbClr val="1C4975"/>
                </a:solidFill>
                <a:latin typeface="Aptos"/>
              </a:rPr>
              <a:t>VALUE CREATED BY THE RELEASE-GATE MODEL</a:t>
            </a:r>
          </a:p>
        </p:txBody>
      </p:sp>
      <p:sp>
        <p:nvSpPr>
          <p:cNvPr id="1048633" name="Rounded Rectangle 1048632"/>
          <p:cNvSpPr/>
          <p:nvPr/>
        </p:nvSpPr>
        <p:spPr>
          <a:xfrm>
            <a:off x="566928" y="3474720"/>
            <a:ext cx="3246120" cy="141732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C4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500" b="1">
                <a:solidFill>
                  <a:srgbClr val="1C4975"/>
                </a:solidFill>
                <a:latin typeface="Aptos Display"/>
              </a:rPr>
              <a:t>UTILITY PRESERVED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280">
                <a:solidFill>
                  <a:srgbClr val="1E242B"/>
                </a:solidFill>
                <a:latin typeface="Aptos"/>
              </a:rPr>
              <a:t>Policy-driven retention protects orientation markers, scales, technical parameters and research timelines instead of blindly deleting information.</a:t>
            </a:r>
          </a:p>
        </p:txBody>
      </p:sp>
      <p:sp>
        <p:nvSpPr>
          <p:cNvPr id="1048634" name="Rounded Rectangle 1048633"/>
          <p:cNvSpPr/>
          <p:nvPr/>
        </p:nvSpPr>
        <p:spPr>
          <a:xfrm>
            <a:off x="4462272" y="3474720"/>
            <a:ext cx="3246120" cy="141732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8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500" b="1">
                <a:solidFill>
                  <a:srgbClr val="188760"/>
                </a:solidFill>
                <a:latin typeface="Aptos Display"/>
              </a:rPr>
              <a:t>PROOF, NOT CLAIMS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280">
                <a:solidFill>
                  <a:srgbClr val="1E242B"/>
                </a:solidFill>
                <a:latin typeface="Aptos"/>
              </a:rPr>
              <a:t>Independent re-scan, pixel-difference analysis, UID closure and DICOM validation produce evidence of the result.</a:t>
            </a:r>
          </a:p>
        </p:txBody>
      </p:sp>
      <p:sp>
        <p:nvSpPr>
          <p:cNvPr id="1048635" name="Rounded Rectangle 1048634"/>
          <p:cNvSpPr/>
          <p:nvPr/>
        </p:nvSpPr>
        <p:spPr>
          <a:xfrm>
            <a:off x="8357616" y="3474720"/>
            <a:ext cx="3246120" cy="141732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70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500" b="1">
                <a:solidFill>
                  <a:srgbClr val="70529D"/>
                </a:solidFill>
                <a:latin typeface="Aptos Display"/>
              </a:rPr>
              <a:t>SCALABLE FOUNDATION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280">
                <a:solidFill>
                  <a:srgbClr val="1E242B"/>
                </a:solidFill>
                <a:latin typeface="Aptos"/>
              </a:rPr>
              <a:t>Desktop MVP → folder watch → enterprise/PACS extensions while retaining the same fail-safe release philosophy.</a:t>
            </a:r>
          </a:p>
        </p:txBody>
      </p:sp>
      <p:sp>
        <p:nvSpPr>
          <p:cNvPr id="1048636" name="TextBox 1048635"/>
          <p:cNvSpPr txBox="1"/>
          <p:nvPr/>
        </p:nvSpPr>
        <p:spPr>
          <a:xfrm>
            <a:off x="713232" y="5230368"/>
            <a:ext cx="10744200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/>
            <a:r>
              <a:rPr sz="1520" b="1">
                <a:solidFill>
                  <a:srgbClr val="1E242B"/>
                </a:solidFill>
                <a:latin typeface="Aptos"/>
              </a:rPr>
              <a:t>Signature outcome: a research DICOM is released only after the system actively searches for residual identity and proves approved image regions, structure and relationships remain intact.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502920" y="256032"/>
            <a:ext cx="11201400" cy="621792"/>
          </a:xfrm>
        </p:spPr>
        <p:txBody>
          <a:bodyPr wrap="square" anchor="ctr" lIns="54864" rIns="54864" tIns="54864" bIns="54864"/>
          <a:p>
            <a:pPr eaLnBrk="1" hangingPunct="1" algn="ctr"/>
            <a:r>
              <a:rPr sz="2700" b="1">
                <a:solidFill>
                  <a:srgbClr val="70529D"/>
                </a:solidFill>
                <a:latin typeface="Aptos"/>
              </a:rPr>
              <a:t>RESEARCH AND REFERENCES</a:t>
            </a:r>
          </a:p>
        </p:txBody>
      </p:sp>
      <p:sp>
        <p:nvSpPr>
          <p:cNvPr id="1048634" name="TextBox 8"/>
          <p:cNvSpPr txBox="1">
            <a:spLocks noChangeArrowheads="1"/>
          </p:cNvSpPr>
          <p:nvPr/>
        </p:nvSpPr>
        <p:spPr bwMode="auto">
          <a:xfrm>
            <a:off x="365760" y="1024128"/>
            <a:ext cx="11247120" cy="5285232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3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37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 wrap="square" lIns="54864" rIns="54864" tIns="54864" bIns="54864"/>
          <a:p>
            <a:pPr algn="ctr"/>
            <a:r>
              <a:rPr sz="1100" b="0">
                <a:solidFill>
                  <a:srgbClr val="1E242B"/>
                </a:solidFill>
                <a:latin typeface="Aptos"/>
              </a:rPr>
              <a:t>Your Team Name</a:t>
            </a:r>
            <a:endParaRPr dirty="0" lang="en-IN"/>
          </a:p>
        </p:txBody>
      </p:sp>
      <p:sp>
        <p:nvSpPr>
          <p:cNvPr id="1048638" name="Rounded Rectangle 1048637"/>
          <p:cNvSpPr/>
          <p:nvPr/>
        </p:nvSpPr>
        <p:spPr>
          <a:xfrm>
            <a:off x="566928" y="1234440"/>
            <a:ext cx="5321808" cy="102412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1F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450" b="1">
                <a:solidFill>
                  <a:srgbClr val="1F69B1"/>
                </a:solidFill>
                <a:latin typeface="Aptos Display"/>
              </a:rPr>
              <a:t>DICOM PS 3.5 — Data Structures &amp; UID Rules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120">
                <a:solidFill>
                  <a:srgbClr val="1E242B"/>
                </a:solidFill>
                <a:latin typeface="Aptos"/>
              </a:rPr>
              <a:t>https://dicom.nema.org/medical/dicom/current/output/html/part05.html</a:t>
            </a:r>
          </a:p>
        </p:txBody>
      </p:sp>
      <p:sp>
        <p:nvSpPr>
          <p:cNvPr id="1048639" name="Rounded Rectangle 1048638"/>
          <p:cNvSpPr/>
          <p:nvPr/>
        </p:nvSpPr>
        <p:spPr>
          <a:xfrm>
            <a:off x="6291072" y="1234440"/>
            <a:ext cx="5321808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450" b="1">
                <a:solidFill>
                  <a:srgbClr val="70529D"/>
                </a:solidFill>
                <a:latin typeface="Aptos Display"/>
              </a:rPr>
              <a:t>DICOM PS 3.15 — Security / De-identification Profiles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120">
                <a:solidFill>
                  <a:srgbClr val="1E242B"/>
                </a:solidFill>
                <a:latin typeface="Aptos"/>
              </a:rPr>
              <a:t>https://dicom.nema.org/medical/dicom/current/output/html/part15.html</a:t>
            </a:r>
          </a:p>
        </p:txBody>
      </p:sp>
      <p:sp>
        <p:nvSpPr>
          <p:cNvPr id="1048640" name="Rounded Rectangle 1048639"/>
          <p:cNvSpPr/>
          <p:nvPr/>
        </p:nvSpPr>
        <p:spPr>
          <a:xfrm>
            <a:off x="566928" y="2496312"/>
            <a:ext cx="5321808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450" b="1">
                <a:solidFill>
                  <a:srgbClr val="188760"/>
                </a:solidFill>
                <a:latin typeface="Aptos Display"/>
              </a:rPr>
              <a:t>HHS — Guidance on De-identification of PHI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120">
                <a:solidFill>
                  <a:srgbClr val="1E242B"/>
                </a:solidFill>
                <a:latin typeface="Aptos"/>
              </a:rPr>
              <a:t>https://www.hhs.gov/hipaa/for-professionals/special-topics/de-identification/index.html</a:t>
            </a:r>
          </a:p>
        </p:txBody>
      </p:sp>
      <p:sp>
        <p:nvSpPr>
          <p:cNvPr id="1048641" name="Rounded Rectangle 1048640"/>
          <p:cNvSpPr/>
          <p:nvPr/>
        </p:nvSpPr>
        <p:spPr>
          <a:xfrm>
            <a:off x="6291072" y="2496312"/>
            <a:ext cx="5321808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8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l"/>
            <a:r>
              <a:rPr sz="1450" b="1">
                <a:solidFill>
                  <a:srgbClr val="D68422"/>
                </a:solidFill>
                <a:latin typeface="Aptos Display"/>
              </a:rPr>
              <a:t>Project Research Base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1120">
                <a:solidFill>
                  <a:srgbClr val="1E242B"/>
                </a:solidFill>
                <a:latin typeface="Aptos"/>
              </a:rPr>
              <a:t>SentinelDICOM + DICOM VeilGuard blueprints, hardening reviews and technical edge-case analysis.</a:t>
            </a:r>
          </a:p>
        </p:txBody>
      </p:sp>
      <p:sp>
        <p:nvSpPr>
          <p:cNvPr id="1048642" name="TextBox 1048641"/>
          <p:cNvSpPr txBox="1"/>
          <p:nvPr/>
        </p:nvSpPr>
        <p:spPr>
          <a:xfrm>
            <a:off x="566928" y="3749039"/>
            <a:ext cx="109728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1C4975"/>
                </a:solidFill>
                <a:latin typeface="Aptos"/>
              </a:rPr>
              <a:t>DESIGN PRINCIPLES CARRIED INTO THE PROTOTYPE</a:t>
            </a:r>
          </a:p>
        </p:txBody>
      </p:sp>
      <p:sp>
        <p:nvSpPr>
          <p:cNvPr id="1048643" name="TextBox 1048642"/>
          <p:cNvSpPr txBox="1"/>
          <p:nvPr/>
        </p:nvSpPr>
        <p:spPr>
          <a:xfrm>
            <a:off x="731520" y="4224528"/>
            <a:ext cx="10652760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95000"/>
              </a:lnSpc>
              <a:spcAft>
                <a:spcPts val="500"/>
              </a:spcAft>
              <a:defRPr sz="1380">
                <a:solidFill>
                  <a:srgbClr val="1E242B"/>
                </a:solidFill>
                <a:latin typeface="Aptos"/>
              </a:defRPr>
            </a:pPr>
            <a:r>
              <a:t>DICOM PS3.15 policy baseline + configurable private-tag handling.</a:t>
            </a:r>
          </a:p>
          <a:p>
            <a:pPr>
              <a:lnSpc>
                <a:spcPct val="95000"/>
              </a:lnSpc>
              <a:spcAft>
                <a:spcPts val="500"/>
              </a:spcAft>
              <a:defRPr sz="1380">
                <a:solidFill>
                  <a:srgbClr val="1E242B"/>
                </a:solidFill>
                <a:latin typeface="Aptos"/>
              </a:defRPr>
            </a:pPr>
            <a:r>
              <a:t>Metadata-to-pixel correlation + modality-gated vision for burned-in PHI.</a:t>
            </a:r>
          </a:p>
          <a:p>
            <a:pPr>
              <a:lnSpc>
                <a:spcPct val="95000"/>
              </a:lnSpc>
              <a:spcAft>
                <a:spcPts val="500"/>
              </a:spcAft>
              <a:defRPr sz="1380">
                <a:solidFill>
                  <a:srgbClr val="1E242B"/>
                </a:solidFill>
                <a:latin typeface="Aptos"/>
              </a:defRPr>
            </a:pPr>
            <a:r>
              <a:t>Three-Truth Release Gate + human review + fail-closed quarantine.</a:t>
            </a:r>
          </a:p>
          <a:p>
            <a:pPr>
              <a:lnSpc>
                <a:spcPct val="95000"/>
              </a:lnSpc>
              <a:spcAft>
                <a:spcPts val="500"/>
              </a:spcAft>
              <a:defRPr sz="1380">
                <a:solidFill>
                  <a:srgbClr val="1E242B"/>
                </a:solidFill>
                <a:latin typeface="Aptos"/>
              </a:defRPr>
            </a:pPr>
            <a:r>
              <a:t>No blanket legal-compliance claim: output is processed under a selected policy and validated against configured gates.</a:t>
            </a:r>
          </a:p>
        </p:txBody>
      </p:sp>
      <p:sp>
        <p:nvSpPr>
          <p:cNvPr id="1048644" name="TextBox 1048643"/>
          <p:cNvSpPr txBox="1"/>
          <p:nvPr/>
        </p:nvSpPr>
        <p:spPr>
          <a:xfrm>
            <a:off x="713232" y="5788152"/>
            <a:ext cx="10744200" cy="3657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/>
            <a:r>
              <a:rPr sz="1420" b="1">
                <a:solidFill>
                  <a:srgbClr val="70529D"/>
                </a:solidFill>
                <a:latin typeface="Aptos"/>
              </a:rPr>
              <a:t>Core message: Privacy + Diagnostic Integrity + Structural Validity must agree before release.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Crowdfunder, Inc.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Investor Pitch Deck Template</dc:title>
  <dc:creator>Crowdfunder</dc:creator>
  <cp:lastModifiedBy>Aicte</cp:lastModifiedBy>
  <dcterms:created xsi:type="dcterms:W3CDTF">2013-12-11T20:46:50Z</dcterms:created>
  <dcterms:modified xsi:type="dcterms:W3CDTF">2026-09-17T01:47:49Z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65b5e6fec16748419781d688b5deed40</vt:lpwstr>
  </property>
</Properties>
</file>